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</p:sldMasterIdLst>
  <p:sldIdLst>
    <p:sldId id="269" r:id="rId2"/>
    <p:sldId id="258" r:id="rId3"/>
    <p:sldId id="259" r:id="rId4"/>
    <p:sldId id="257" r:id="rId5"/>
    <p:sldId id="256" r:id="rId6"/>
    <p:sldId id="260" r:id="rId7"/>
    <p:sldId id="261" r:id="rId8"/>
    <p:sldId id="267" r:id="rId9"/>
    <p:sldId id="268" r:id="rId10"/>
    <p:sldId id="262" r:id="rId11"/>
    <p:sldId id="263" r:id="rId12"/>
    <p:sldId id="264" r:id="rId13"/>
    <p:sldId id="265" r:id="rId14"/>
  </p:sldIdLst>
  <p:sldSz cx="8640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1" userDrawn="1">
          <p15:clr>
            <a:srgbClr val="A4A3A4"/>
          </p15:clr>
        </p15:guide>
        <p15:guide id="2" pos="27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104" y="38"/>
      </p:cViewPr>
      <p:guideLst>
        <p:guide orient="horz" pos="1701"/>
        <p:guide pos="27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4319" y="597675"/>
            <a:ext cx="6674989" cy="318279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10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4319" y="3780472"/>
            <a:ext cx="6674989" cy="1332167"/>
          </a:xfrm>
        </p:spPr>
        <p:txBody>
          <a:bodyPr>
            <a:normAutofit/>
          </a:bodyPr>
          <a:lstStyle>
            <a:lvl1pPr marL="0" indent="0" algn="l">
              <a:buNone/>
              <a:defRPr sz="1559" baseline="0">
                <a:solidFill>
                  <a:schemeClr val="tx1">
                    <a:lumMod val="75000"/>
                  </a:schemeClr>
                </a:solidFill>
              </a:defRPr>
            </a:lvl1pPr>
            <a:lvl2pPr marL="324018" indent="0" algn="ctr">
              <a:buNone/>
              <a:defRPr sz="1559"/>
            </a:lvl2pPr>
            <a:lvl3pPr marL="648035" indent="0" algn="ctr">
              <a:buNone/>
              <a:defRPr sz="1559"/>
            </a:lvl3pPr>
            <a:lvl4pPr marL="972053" indent="0" algn="ctr">
              <a:buNone/>
              <a:defRPr sz="1417"/>
            </a:lvl4pPr>
            <a:lvl5pPr marL="1296071" indent="0" algn="ctr">
              <a:buNone/>
              <a:defRPr sz="1417"/>
            </a:lvl5pPr>
            <a:lvl6pPr marL="1620088" indent="0" algn="ctr">
              <a:buNone/>
              <a:defRPr sz="1417"/>
            </a:lvl6pPr>
            <a:lvl7pPr marL="1944106" indent="0" algn="ctr">
              <a:buNone/>
              <a:defRPr sz="1417"/>
            </a:lvl7pPr>
            <a:lvl8pPr marL="2268123" indent="0" algn="ctr">
              <a:buNone/>
              <a:defRPr sz="1417"/>
            </a:lvl8pPr>
            <a:lvl9pPr marL="2592141" indent="0" algn="ctr">
              <a:buNone/>
              <a:defRPr sz="14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4029" cy="5400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3862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19" y="597675"/>
            <a:ext cx="6674989" cy="318279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10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319" y="3780472"/>
            <a:ext cx="6674989" cy="1332167"/>
          </a:xfrm>
        </p:spPr>
        <p:txBody>
          <a:bodyPr anchor="t">
            <a:normAutofit/>
          </a:bodyPr>
          <a:lstStyle>
            <a:lvl1pPr marL="0" indent="0">
              <a:buNone/>
              <a:defRPr sz="155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24018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4029" cy="5400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331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319" y="1440180"/>
            <a:ext cx="3175480" cy="3426678"/>
          </a:xfrm>
        </p:spPr>
        <p:txBody>
          <a:bodyPr/>
          <a:lstStyle>
            <a:lvl1pPr>
              <a:defRPr sz="1276"/>
            </a:lvl1pPr>
            <a:lvl2pPr>
              <a:defRPr sz="1134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1984" y="1440180"/>
            <a:ext cx="3175480" cy="3426678"/>
          </a:xfrm>
        </p:spPr>
        <p:txBody>
          <a:bodyPr/>
          <a:lstStyle>
            <a:lvl1pPr>
              <a:defRPr sz="1276"/>
            </a:lvl1pPr>
            <a:lvl2pPr>
              <a:defRPr sz="1134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2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319" y="1349503"/>
            <a:ext cx="3175480" cy="57607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417" b="0">
                <a:solidFill>
                  <a:schemeClr val="tx2"/>
                </a:solidFill>
              </a:defRPr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4319" y="1974696"/>
            <a:ext cx="3175480" cy="2885912"/>
          </a:xfrm>
        </p:spPr>
        <p:txBody>
          <a:bodyPr/>
          <a:lstStyle>
            <a:lvl1pPr>
              <a:defRPr sz="1276"/>
            </a:lvl1pPr>
            <a:lvl2pPr>
              <a:defRPr sz="1134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41984" y="1349503"/>
            <a:ext cx="3175480" cy="576072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417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marL="0" lvl="0" indent="0" algn="l" defTabSz="648035" rtl="0" eaLnBrk="1" latinLnBrk="0" hangingPunct="1">
              <a:lnSpc>
                <a:spcPct val="90000"/>
              </a:lnSpc>
              <a:spcBef>
                <a:spcPts val="1417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41984" y="1974696"/>
            <a:ext cx="3175480" cy="2885912"/>
          </a:xfrm>
        </p:spPr>
        <p:txBody>
          <a:bodyPr/>
          <a:lstStyle>
            <a:lvl1pPr>
              <a:defRPr sz="1276"/>
            </a:lvl1pPr>
            <a:lvl2pPr>
              <a:defRPr sz="1134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4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9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213" y="360045"/>
            <a:ext cx="2268200" cy="1260155"/>
          </a:xfrm>
        </p:spPr>
        <p:txBody>
          <a:bodyPr anchor="b">
            <a:normAutofit/>
          </a:bodyPr>
          <a:lstStyle>
            <a:lvl1pPr>
              <a:defRPr sz="2268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2282" y="540068"/>
            <a:ext cx="4308380" cy="4320540"/>
          </a:xfrm>
        </p:spPr>
        <p:txBody>
          <a:bodyPr/>
          <a:lstStyle>
            <a:lvl1pPr>
              <a:defRPr sz="1417"/>
            </a:lvl1pPr>
            <a:lvl2pPr>
              <a:defRPr sz="1276"/>
            </a:lvl2pPr>
            <a:lvl3pPr>
              <a:defRPr sz="1134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6213" y="1653541"/>
            <a:ext cx="2268200" cy="3000376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567"/>
              </a:spcBef>
              <a:buNone/>
              <a:defRPr sz="921"/>
            </a:lvl1pPr>
            <a:lvl2pPr marL="324018" indent="0">
              <a:buNone/>
              <a:defRPr sz="850"/>
            </a:lvl2pPr>
            <a:lvl3pPr marL="648035" indent="0">
              <a:buNone/>
              <a:defRPr sz="709"/>
            </a:lvl3pPr>
            <a:lvl4pPr marL="972053" indent="0">
              <a:buNone/>
              <a:defRPr sz="638"/>
            </a:lvl4pPr>
            <a:lvl5pPr marL="1296071" indent="0">
              <a:buNone/>
              <a:defRPr sz="638"/>
            </a:lvl5pPr>
            <a:lvl6pPr marL="1620088" indent="0">
              <a:buNone/>
              <a:defRPr sz="638"/>
            </a:lvl6pPr>
            <a:lvl7pPr marL="1944106" indent="0">
              <a:buNone/>
              <a:defRPr sz="638"/>
            </a:lvl7pPr>
            <a:lvl8pPr marL="2268123" indent="0">
              <a:buNone/>
              <a:defRPr sz="638"/>
            </a:lvl8pPr>
            <a:lvl9pPr marL="2592141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020502"/>
            <a:ext cx="8003507" cy="138017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057" y="4140518"/>
            <a:ext cx="7074625" cy="720090"/>
          </a:xfrm>
        </p:spPr>
        <p:txBody>
          <a:bodyPr anchor="b">
            <a:normAutofit/>
          </a:bodyPr>
          <a:lstStyle>
            <a:lvl1pPr>
              <a:defRPr sz="1984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003507" cy="4039027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268">
                <a:solidFill>
                  <a:schemeClr val="bg1"/>
                </a:solidFill>
              </a:defRPr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8057" y="4810514"/>
            <a:ext cx="7074625" cy="4701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67"/>
              </a:spcBef>
              <a:buNone/>
              <a:defRPr sz="921">
                <a:solidFill>
                  <a:schemeClr val="bg1">
                    <a:lumMod val="85000"/>
                  </a:schemeClr>
                </a:solidFill>
              </a:defRPr>
            </a:lvl1pPr>
            <a:lvl2pPr marL="324018" indent="0">
              <a:buNone/>
              <a:defRPr sz="850"/>
            </a:lvl2pPr>
            <a:lvl3pPr marL="648035" indent="0">
              <a:buNone/>
              <a:defRPr sz="709"/>
            </a:lvl3pPr>
            <a:lvl4pPr marL="972053" indent="0">
              <a:buNone/>
              <a:defRPr sz="638"/>
            </a:lvl4pPr>
            <a:lvl5pPr marL="1296071" indent="0">
              <a:buNone/>
              <a:defRPr sz="638"/>
            </a:lvl5pPr>
            <a:lvl6pPr marL="1620088" indent="0">
              <a:buNone/>
              <a:defRPr sz="638"/>
            </a:lvl6pPr>
            <a:lvl7pPr marL="1944106" indent="0">
              <a:buNone/>
              <a:defRPr sz="638"/>
            </a:lvl7pPr>
            <a:lvl8pPr marL="2268123" indent="0">
              <a:buNone/>
              <a:defRPr sz="638"/>
            </a:lvl8pPr>
            <a:lvl9pPr marL="2592141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5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5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29541" y="300038"/>
            <a:ext cx="1755155" cy="46443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048" y="300038"/>
            <a:ext cx="5481484" cy="46443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84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003507" y="0"/>
            <a:ext cx="648057" cy="5400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319" y="288036"/>
            <a:ext cx="6869407" cy="1043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319" y="1440180"/>
            <a:ext cx="6091738" cy="3426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77443" y="800730"/>
            <a:ext cx="1500187" cy="258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17360" y="3201030"/>
            <a:ext cx="2820353" cy="258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3507" y="4860608"/>
            <a:ext cx="648057" cy="467558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55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 spc="-35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9607" indent="-129607" algn="l" defTabSz="648035" rtl="0" eaLnBrk="1" latinLnBrk="0" hangingPunct="1">
        <a:lnSpc>
          <a:spcPct val="95000"/>
        </a:lnSpc>
        <a:spcBef>
          <a:spcPts val="992"/>
        </a:spcBef>
        <a:spcAft>
          <a:spcPts val="142"/>
        </a:spcAft>
        <a:buClr>
          <a:schemeClr val="accent1"/>
        </a:buClr>
        <a:buSzPct val="80000"/>
        <a:buFont typeface="Arial" pitchFamily="34" charset="0"/>
        <a:buChar char="•"/>
        <a:defRPr sz="1276" kern="1200" spc="7" baseline="0">
          <a:solidFill>
            <a:schemeClr val="tx1"/>
          </a:solidFill>
          <a:latin typeface="+mn-lt"/>
          <a:ea typeface="+mn-ea"/>
          <a:cs typeface="+mn-cs"/>
        </a:defRPr>
      </a:lvl1pPr>
      <a:lvl2pPr marL="324018" indent="-129607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113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8428" indent="-129607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12839" indent="-129607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07249" indent="-129607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133920" indent="-162009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346530" indent="-162009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559140" indent="-162009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771750" indent="-162009" algn="l" defTabSz="648035" rtl="0" eaLnBrk="1" latinLnBrk="0" hangingPunct="1">
        <a:lnSpc>
          <a:spcPct val="90000"/>
        </a:lnSpc>
        <a:spcBef>
          <a:spcPts val="213"/>
        </a:spcBef>
        <a:spcAft>
          <a:spcPts val="213"/>
        </a:spcAft>
        <a:buClr>
          <a:schemeClr val="accent1"/>
        </a:buClr>
        <a:buFont typeface="Wingdings 2" pitchFamily="18" charset="2"/>
        <a:buChar char=""/>
        <a:defRPr sz="99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4158-BD11-ED64-C567-DA7F7E2D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Ideathon</a:t>
            </a:r>
            <a:r>
              <a:rPr lang="en-US" dirty="0"/>
              <a:t> project idea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552D6-C593-EA16-E64F-C800FC933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Mohammed saad (24691A31M3)</a:t>
            </a:r>
          </a:p>
          <a:p>
            <a:r>
              <a:rPr lang="en-US" dirty="0"/>
              <a:t>Saniya Syeda(24691A31O4)</a:t>
            </a:r>
          </a:p>
          <a:p>
            <a:r>
              <a:rPr lang="en-US" dirty="0"/>
              <a:t>Dept of Artificial Intelligence(MITS)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43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249" y="1402938"/>
            <a:ext cx="6702946" cy="2823241"/>
          </a:xfrm>
        </p:spPr>
        <p:txBody>
          <a:bodyPr>
            <a:normAutofit/>
          </a:bodyPr>
          <a:lstStyle/>
          <a:p>
            <a:r>
              <a:rPr sz="1800" dirty="0"/>
              <a:t>Mess kitchens and food services often overproduce or underproduce food.</a:t>
            </a:r>
          </a:p>
          <a:p>
            <a:r>
              <a:rPr sz="1800" dirty="0"/>
              <a:t>This leads to food wastage, financial losses, and operational inefficiencies.</a:t>
            </a:r>
          </a:p>
          <a:p>
            <a:r>
              <a:rPr sz="1800" dirty="0"/>
              <a:t>Traditional planning methods fail to capture hidden demand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468" y="678180"/>
            <a:ext cx="6702946" cy="718554"/>
          </a:xfrm>
        </p:spPr>
        <p:txBody>
          <a:bodyPr/>
          <a:lstStyle/>
          <a:p>
            <a:r>
              <a:rPr dirty="0"/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475" y="2022742"/>
            <a:ext cx="6492932" cy="198882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sz="1800" dirty="0"/>
              <a:t>Large quantities of food are wasted daily.</a:t>
            </a:r>
          </a:p>
          <a:p>
            <a:pPr marL="0" indent="0">
              <a:buNone/>
            </a:pPr>
            <a:r>
              <a:rPr sz="1800" dirty="0"/>
              <a:t>• Wasted food increases operational costs.</a:t>
            </a:r>
          </a:p>
          <a:p>
            <a:pPr marL="0" indent="0">
              <a:buNone/>
            </a:pPr>
            <a:r>
              <a:rPr sz="1800" dirty="0"/>
              <a:t>• Food waste contributes to environmental damage and carbon emissions.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908" y="542203"/>
            <a:ext cx="6702946" cy="1171206"/>
          </a:xfrm>
        </p:spPr>
        <p:txBody>
          <a:bodyPr/>
          <a:lstStyle/>
          <a:p>
            <a:r>
              <a:rPr dirty="0"/>
              <a:t>Problem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630" y="2356454"/>
            <a:ext cx="6702946" cy="2257499"/>
          </a:xfrm>
        </p:spPr>
        <p:txBody>
          <a:bodyPr>
            <a:normAutofit/>
          </a:bodyPr>
          <a:lstStyle/>
          <a:p>
            <a:r>
              <a:rPr sz="1800" dirty="0"/>
              <a:t>Over the year food demand follows patterns influenced by weather, exams, holidays, events</a:t>
            </a:r>
            <a:r>
              <a:rPr lang="en-US" sz="1800" dirty="0"/>
              <a:t> and many more features</a:t>
            </a:r>
            <a:r>
              <a:rPr sz="1800" dirty="0"/>
              <a:t>.</a:t>
            </a:r>
          </a:p>
          <a:p>
            <a:r>
              <a:rPr sz="1800" dirty="0"/>
              <a:t>However most food services prepare fixed quantities ignoring these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7" y="1956434"/>
            <a:ext cx="6869407" cy="600396"/>
          </a:xfrm>
        </p:spPr>
        <p:txBody>
          <a:bodyPr>
            <a:noAutofit/>
          </a:bodyPr>
          <a:lstStyle/>
          <a:p>
            <a:r>
              <a:rPr sz="4800" dirty="0" err="1"/>
              <a:t>Pred</a:t>
            </a:r>
            <a:r>
              <a:rPr lang="en-US" sz="4800" dirty="0" err="1"/>
              <a:t>N</a:t>
            </a:r>
            <a:r>
              <a:rPr sz="4800" dirty="0" err="1"/>
              <a:t>Serve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319" y="2897824"/>
            <a:ext cx="6091738" cy="777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AI-based Food Demand Prediction System to Reduce Waste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A8CE7-8523-FF42-6735-D0598224B689}"/>
              </a:ext>
            </a:extLst>
          </p:cNvPr>
          <p:cNvSpPr txBox="1"/>
          <p:nvPr/>
        </p:nvSpPr>
        <p:spPr>
          <a:xfrm>
            <a:off x="894319" y="888266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We introduce -&gt;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Our Solution – </a:t>
            </a:r>
            <a:r>
              <a:rPr dirty="0" err="1"/>
              <a:t>PrednServe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PrednServe</a:t>
            </a:r>
            <a:r>
              <a:rPr sz="1800" dirty="0"/>
              <a:t> analyzes historical food consumption patterns along with contextual data.</a:t>
            </a:r>
          </a:p>
          <a:p>
            <a:r>
              <a:rPr sz="1800" dirty="0"/>
              <a:t>It predicts future demand so kitchens can prepare optimal quantities.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Inputs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Historical consumption data</a:t>
            </a:r>
          </a:p>
          <a:p>
            <a:r>
              <a:t>• Attendance patterns</a:t>
            </a:r>
          </a:p>
          <a:p>
            <a:r>
              <a:t>• Exam schedules</a:t>
            </a:r>
          </a:p>
          <a:p>
            <a:r>
              <a:t>• Weather conditions</a:t>
            </a:r>
          </a:p>
          <a:p>
            <a:r>
              <a:t>• Special events</a:t>
            </a:r>
          </a:p>
          <a:p>
            <a:r>
              <a:t>• Day of week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2EAD7A-080F-B303-CCC8-4205F3B8DEFD}"/>
              </a:ext>
            </a:extLst>
          </p:cNvPr>
          <p:cNvSpPr txBox="1"/>
          <p:nvPr/>
        </p:nvSpPr>
        <p:spPr>
          <a:xfrm>
            <a:off x="769620" y="847606"/>
            <a:ext cx="3650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Visualization of patterns in data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9D3CC-DF6F-BB38-BCF9-5A37514A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6" t="6744" r="9256"/>
          <a:stretch>
            <a:fillRect/>
          </a:stretch>
        </p:blipFill>
        <p:spPr>
          <a:xfrm>
            <a:off x="243840" y="2509658"/>
            <a:ext cx="8077200" cy="242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B46406-7FE0-E343-FDAF-7E3190C94855}"/>
              </a:ext>
            </a:extLst>
          </p:cNvPr>
          <p:cNvSpPr txBox="1"/>
          <p:nvPr/>
        </p:nvSpPr>
        <p:spPr>
          <a:xfrm>
            <a:off x="3335175" y="2254180"/>
            <a:ext cx="1970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Daily food sales overtime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EA7E6-9BC6-3088-897A-E66859E96C9B}"/>
              </a:ext>
            </a:extLst>
          </p:cNvPr>
          <p:cNvSpPr txBox="1"/>
          <p:nvPr/>
        </p:nvSpPr>
        <p:spPr>
          <a:xfrm rot="16200000">
            <a:off x="-17212" y="3290670"/>
            <a:ext cx="102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Total sales</a:t>
            </a:r>
            <a:endParaRPr lang="en-IN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6E57B2-EB81-E180-E731-AC2C29925BCE}"/>
              </a:ext>
            </a:extLst>
          </p:cNvPr>
          <p:cNvSpPr/>
          <p:nvPr/>
        </p:nvSpPr>
        <p:spPr>
          <a:xfrm>
            <a:off x="4602480" y="2700337"/>
            <a:ext cx="541020" cy="4648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E0595A-D8DE-77C1-47EA-AD1D76A41583}"/>
              </a:ext>
            </a:extLst>
          </p:cNvPr>
          <p:cNvCxnSpPr>
            <a:cxnSpLocks/>
          </p:cNvCxnSpPr>
          <p:nvPr/>
        </p:nvCxnSpPr>
        <p:spPr>
          <a:xfrm flipV="1">
            <a:off x="5143500" y="2254180"/>
            <a:ext cx="861060" cy="615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151C7F-BAA1-38D5-FA7C-BAFD8F62981F}"/>
              </a:ext>
            </a:extLst>
          </p:cNvPr>
          <p:cNvSpPr txBox="1"/>
          <p:nvPr/>
        </p:nvSpPr>
        <p:spPr>
          <a:xfrm>
            <a:off x="5913120" y="1958519"/>
            <a:ext cx="19848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May indicate events, or any</a:t>
            </a:r>
          </a:p>
          <a:p>
            <a:r>
              <a:rPr lang="en-US" sz="1100" dirty="0"/>
              <a:t>Hidden pattern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69767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8FA9E-7FA6-FBF0-37B9-6353A1A6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88" t="6029" r="9785"/>
          <a:stretch>
            <a:fillRect/>
          </a:stretch>
        </p:blipFill>
        <p:spPr>
          <a:xfrm>
            <a:off x="548639" y="1036320"/>
            <a:ext cx="6949441" cy="36539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162C21-FFD8-D5A2-CFBB-E4C027A57B94}"/>
              </a:ext>
            </a:extLst>
          </p:cNvPr>
          <p:cNvSpPr txBox="1"/>
          <p:nvPr/>
        </p:nvSpPr>
        <p:spPr>
          <a:xfrm>
            <a:off x="914400" y="584954"/>
            <a:ext cx="638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Effect of ambient temperature on menu item sales volume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1547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319" y="2012097"/>
            <a:ext cx="6091738" cy="3426678"/>
          </a:xfrm>
        </p:spPr>
        <p:txBody>
          <a:bodyPr>
            <a:normAutofit/>
          </a:bodyPr>
          <a:lstStyle/>
          <a:p>
            <a:r>
              <a:rPr sz="1800" dirty="0"/>
              <a:t>Regression-based models learn patterns from historical data.</a:t>
            </a:r>
          </a:p>
          <a:p>
            <a:r>
              <a:rPr sz="1800" dirty="0"/>
              <a:t>Models such as Linear Regression or Random Forest predict future food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19" y="2004477"/>
            <a:ext cx="6091738" cy="3426678"/>
          </a:xfrm>
        </p:spPr>
        <p:txBody>
          <a:bodyPr>
            <a:normAutofit/>
          </a:bodyPr>
          <a:lstStyle/>
          <a:p>
            <a:r>
              <a:rPr sz="1800" dirty="0"/>
              <a:t>Data Collection → Data Processing → Machine Learning Model → API → Dashboard</a:t>
            </a:r>
          </a:p>
          <a:p>
            <a:r>
              <a:rPr sz="1800" dirty="0"/>
              <a:t>Backend: </a:t>
            </a:r>
            <a:r>
              <a:rPr sz="1800" dirty="0" err="1"/>
              <a:t>FastAPI</a:t>
            </a:r>
            <a:endParaRPr sz="1800" dirty="0"/>
          </a:p>
          <a:p>
            <a:r>
              <a:rPr sz="1800" dirty="0"/>
              <a:t>Database: SQLite</a:t>
            </a:r>
          </a:p>
          <a:p>
            <a:r>
              <a:rPr sz="1800" dirty="0"/>
              <a:t>Frontend: </a:t>
            </a:r>
            <a:r>
              <a:rPr sz="1800" dirty="0" err="1"/>
              <a:t>Streamlit</a:t>
            </a:r>
            <a:r>
              <a:rPr sz="1800" dirty="0"/>
              <a:t>/Web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319" y="1844040"/>
            <a:ext cx="6091738" cy="3426678"/>
          </a:xfrm>
        </p:spPr>
        <p:txBody>
          <a:bodyPr/>
          <a:lstStyle/>
          <a:p>
            <a:r>
              <a:rPr dirty="0"/>
              <a:t> </a:t>
            </a:r>
            <a:r>
              <a:rPr sz="1800" dirty="0"/>
              <a:t>Reduce food waste by 15–25%</a:t>
            </a:r>
          </a:p>
          <a:p>
            <a:r>
              <a:rPr sz="1800" dirty="0"/>
              <a:t> Lower operational costs</a:t>
            </a:r>
          </a:p>
          <a:p>
            <a:r>
              <a:rPr sz="1800" dirty="0"/>
              <a:t> Better planning for kitchens</a:t>
            </a:r>
          </a:p>
          <a:p>
            <a:r>
              <a:rPr sz="1800" dirty="0"/>
              <a:t> Improved sustainability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19" y="432816"/>
            <a:ext cx="6869407" cy="1043880"/>
          </a:xfrm>
        </p:spPr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319" y="2080260"/>
            <a:ext cx="6091738" cy="3426678"/>
          </a:xfrm>
        </p:spPr>
        <p:txBody>
          <a:bodyPr>
            <a:normAutofit/>
          </a:bodyPr>
          <a:lstStyle/>
          <a:p>
            <a:r>
              <a:rPr sz="1800" dirty="0"/>
              <a:t>• IoT sensors for real-time monitoring</a:t>
            </a:r>
          </a:p>
          <a:p>
            <a:r>
              <a:rPr sz="1800" dirty="0"/>
              <a:t>• Multi-campus learning models</a:t>
            </a:r>
          </a:p>
          <a:p>
            <a:r>
              <a:rPr sz="1800" dirty="0"/>
              <a:t>• Procurement optimization</a:t>
            </a:r>
          </a:p>
          <a:p>
            <a:r>
              <a:rPr sz="1800" dirty="0"/>
              <a:t>• Mobile dashboard for administrators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75</TotalTime>
  <Words>306</Words>
  <Application>Microsoft Office PowerPoint</Application>
  <PresentationFormat>Custom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Ideathon project idea</vt:lpstr>
      <vt:lpstr>Problem Statement</vt:lpstr>
      <vt:lpstr>Why This Problem Matters</vt:lpstr>
      <vt:lpstr>Problem Background</vt:lpstr>
      <vt:lpstr>PredNServe</vt:lpstr>
      <vt:lpstr>Our Solution – PrednServe</vt:lpstr>
      <vt:lpstr>Data Inputs Used</vt:lpstr>
      <vt:lpstr>PowerPoint Presentation</vt:lpstr>
      <vt:lpstr>PowerPoint Presentation</vt:lpstr>
      <vt:lpstr>Machine Learning Approach</vt:lpstr>
      <vt:lpstr>System Architecture</vt:lpstr>
      <vt:lpstr>Expected Impact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mahaldar mohammed saad</cp:lastModifiedBy>
  <cp:revision>2</cp:revision>
  <dcterms:created xsi:type="dcterms:W3CDTF">2013-01-27T09:14:16Z</dcterms:created>
  <dcterms:modified xsi:type="dcterms:W3CDTF">2026-03-06T01:31:53Z</dcterms:modified>
  <cp:category/>
</cp:coreProperties>
</file>